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fb845389e74fbd" /><Relationship Type="http://schemas.openxmlformats.org/officeDocument/2006/relationships/extended-properties" Target="/docProps/app.xml" Id="Rf979c664a1b549cb" /><Relationship Type="http://schemas.openxmlformats.org/officeDocument/2006/relationships/officeDocument" Target="/ppt/presentation.xml" Id="R90b9eacc36a447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602bcb01c54b46"/>
  </p:sldMasterIdLst>
  <p:notesMasterIdLst>
    <p:notesMasterId xmlns:r="http://schemas.openxmlformats.org/officeDocument/2006/relationships" r:id="R882860983923489a"/>
  </p:notesMasterIdLst>
  <p:sldIdLst>
    <p:sldId xmlns:r="http://schemas.openxmlformats.org/officeDocument/2006/relationships" id="256" r:id="R6aa76f1cf1aa44e0"/>
    <p:sldId xmlns:r="http://schemas.openxmlformats.org/officeDocument/2006/relationships" id="257" r:id="Rd56799b7d46543e0"/>
    <p:sldId xmlns:r="http://schemas.openxmlformats.org/officeDocument/2006/relationships" id="258" r:id="R928f29c881d24884"/>
    <p:sldId xmlns:r="http://schemas.openxmlformats.org/officeDocument/2006/relationships" id="259" r:id="R1422d09f92564f15"/>
    <p:sldId xmlns:r="http://schemas.openxmlformats.org/officeDocument/2006/relationships" id="260" r:id="R9a4f3f62996b42c5"/>
    <p:sldId xmlns:r="http://schemas.openxmlformats.org/officeDocument/2006/relationships" id="261" r:id="Rbe67bc07da2641ce"/>
    <p:sldId xmlns:r="http://schemas.openxmlformats.org/officeDocument/2006/relationships" id="262" r:id="Rf08dd9017a944567"/>
    <p:sldId xmlns:r="http://schemas.openxmlformats.org/officeDocument/2006/relationships" id="263" r:id="Ra04c089778a544b6"/>
    <p:sldId xmlns:r="http://schemas.openxmlformats.org/officeDocument/2006/relationships" id="264" r:id="R11d0e3a57be44c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8b7c8e845f4d9a" /><Relationship Type="http://schemas.openxmlformats.org/officeDocument/2006/relationships/slideMaster" Target="/ppt/slideMasters/slideMaster1.xml" Id="Re8602bcb01c54b46" /><Relationship Type="http://schemas.openxmlformats.org/officeDocument/2006/relationships/notesMaster" Target="/ppt/notesMasters/notesMaster1.xml" Id="R882860983923489a" /><Relationship Type="http://schemas.openxmlformats.org/officeDocument/2006/relationships/presProps" Target="/ppt/presProps.xml" Id="R80491ac0c6304032" /><Relationship Type="http://schemas.openxmlformats.org/officeDocument/2006/relationships/tableStyles" Target="/ppt/tableStyles.xml" Id="Rac21d15e1d1146bf" /><Relationship Type="http://schemas.openxmlformats.org/officeDocument/2006/relationships/slide" Target="/ppt/slides/slide1.xml" Id="R6aa76f1cf1aa44e0" /><Relationship Type="http://schemas.openxmlformats.org/officeDocument/2006/relationships/slide" Target="/ppt/slides/slide2.xml" Id="Rd56799b7d46543e0" /><Relationship Type="http://schemas.openxmlformats.org/officeDocument/2006/relationships/slide" Target="/ppt/slides/slide3.xml" Id="R928f29c881d24884" /><Relationship Type="http://schemas.openxmlformats.org/officeDocument/2006/relationships/slide" Target="/ppt/slides/slide4.xml" Id="R1422d09f92564f15" /><Relationship Type="http://schemas.openxmlformats.org/officeDocument/2006/relationships/slide" Target="/ppt/slides/slide5.xml" Id="R9a4f3f62996b42c5" /><Relationship Type="http://schemas.openxmlformats.org/officeDocument/2006/relationships/slide" Target="/ppt/slides/slide6.xml" Id="Rbe67bc07da2641ce" /><Relationship Type="http://schemas.openxmlformats.org/officeDocument/2006/relationships/slide" Target="/ppt/slides/slide7.xml" Id="Rf08dd9017a944567" /><Relationship Type="http://schemas.openxmlformats.org/officeDocument/2006/relationships/slide" Target="/ppt/slides/slide8.xml" Id="Ra04c089778a544b6" /><Relationship Type="http://schemas.openxmlformats.org/officeDocument/2006/relationships/slide" Target="/ppt/slides/slide9.xml" Id="R11d0e3a57be44c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d1ed2e8d1040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6d6d65400a47f4" /><Relationship Type="http://schemas.openxmlformats.org/officeDocument/2006/relationships/notesMaster" Target="/ppt/notesMasters/notesMaster1.xml" Id="R3362e7daede545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13f9ee3e044b6b" /><Relationship Type="http://schemas.openxmlformats.org/officeDocument/2006/relationships/notesMaster" Target="/ppt/notesMasters/notesMaster1.xml" Id="R3fb6cdfa0d914e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d9c33f14b640f4" /><Relationship Type="http://schemas.openxmlformats.org/officeDocument/2006/relationships/notesMaster" Target="/ppt/notesMasters/notesMaster1.xml" Id="R6dbc9b84f9d944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d064f38d2547ce" /><Relationship Type="http://schemas.openxmlformats.org/officeDocument/2006/relationships/notesMaster" Target="/ppt/notesMasters/notesMaster1.xml" Id="R63f15ce6eabb4b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32ec1bb82e44cf" /><Relationship Type="http://schemas.openxmlformats.org/officeDocument/2006/relationships/notesMaster" Target="/ppt/notesMasters/notesMaster1.xml" Id="Re64cfbc0c17244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5545dcb65c4077" /><Relationship Type="http://schemas.openxmlformats.org/officeDocument/2006/relationships/notesMaster" Target="/ppt/notesMasters/notesMaster1.xml" Id="Re8ee39eec8db42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c42015ff914672" /><Relationship Type="http://schemas.openxmlformats.org/officeDocument/2006/relationships/notesMaster" Target="/ppt/notesMasters/notesMaster1.xml" Id="R748e1e3863a445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f1335b1bf54a51" /><Relationship Type="http://schemas.openxmlformats.org/officeDocument/2006/relationships/notesMaster" Target="/ppt/notesMasters/notesMaster1.xml" Id="Re26218db55a94b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85a9f0b46b40d5" /><Relationship Type="http://schemas.openxmlformats.org/officeDocument/2006/relationships/notesMaster" Target="/ppt/notesMasters/notesMaster1.xml" Id="Ra0de0d22282f46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internas. Corte documental: 19 de octubre de 2026.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docs/verificacion-pages-demo-20261019.txt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internas. Corte documental: 19 de octubre de 2026.</a:t>
            </a:r>
          </a:p>
          <a:p xmlns:a="http://schemas.openxmlformats.org/drawingml/2006/main">
            <a:r>
              <a:t>README.md, sección «Qué se puede demostrar»</a:t>
            </a:r>
          </a:p>
          <a:p xmlns:a="http://schemas.openxmlformats.org/drawingml/2006/main">
            <a:r>
              <a:t>docs/flujo-producto-QA.txt</a:t>
            </a:r>
          </a:p>
          <a:p xmlns:a="http://schemas.openxmlformats.org/drawingml/2006/main">
            <a:r>
              <a:t>docs/manuales/01-comprador.md</a:t>
            </a:r>
          </a:p>
          <a:p xmlns:a="http://schemas.openxmlformats.org/drawingml/2006/main">
            <a:r>
              <a:t>docs/manuales/04-farmaceutico.md</a:t>
            </a:r>
          </a:p>
          <a:p xmlns:a="http://schemas.openxmlformats.org/drawingml/2006/main">
            <a:r>
              <a:t>docs/manuales/06-cadete.md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internas. Corte documental: 19 de octubre de 2026.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docs/verificacion-pages-demo-20261019.txt</a:t>
            </a:r>
          </a:p>
          <a:p xmlns:a="http://schemas.openxmlformats.org/drawingml/2006/main">
            <a:r>
              <a:t>Captura: docs/capturas/pages-demo-20261019.png. Datos de ejemplo.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internas. Corte documental: 19 de octubre de 2026.</a:t>
            </a:r>
          </a:p>
          <a:p xmlns:a="http://schemas.openxmlformats.org/drawingml/2006/main">
            <a:r>
              <a:t>README.md, circuito operativo actual</a:t>
            </a:r>
          </a:p>
          <a:p xmlns:a="http://schemas.openxmlformats.org/drawingml/2006/main">
            <a:r>
              <a:t>docs/flujo-producto-QA.txt</a:t>
            </a:r>
          </a:p>
          <a:p xmlns:a="http://schemas.openxmlformats.org/drawingml/2006/main">
            <a:r>
              <a:t>docs/manuales/05-operador-farmacia.md</a:t>
            </a:r>
          </a:p>
          <a:p xmlns:a="http://schemas.openxmlformats.org/drawingml/2006/main">
            <a:r>
              <a:t>docs/manuales/04-farmaceutico.md</a:t>
            </a:r>
          </a:p>
          <a:p xmlns:a="http://schemas.openxmlformats.org/drawingml/2006/main">
            <a:r>
              <a:t>docs/manuales/06-cadete.md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internas. Corte documental: 19 de octubre de 2026.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docs/verificacion-producto-QA.txt</a:t>
            </a:r>
          </a:p>
          <a:p xmlns:a="http://schemas.openxmlformats.org/drawingml/2006/main">
            <a:r>
              <a:t>backend/src/main/java/ar/emedicapp/purchase/PurchaseService.java</a:t>
            </a:r>
          </a:p>
          <a:p xmlns:a="http://schemas.openxmlformats.org/drawingml/2006/main">
            <a:r>
              <a:t>backend/src/main/java/ar/emedicapp/catalog/CatalogService.java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internas. Corte documental: 19 de octubre de 2026.</a:t>
            </a:r>
          </a:p>
          <a:p xmlns:a="http://schemas.openxmlformats.org/drawingml/2006/main">
            <a:r>
              <a:t>docs/verificacion-pages-demo-20261019.txt. 184 servidor, cero fallos/errores/omitidas. 18 unitarias de interfaz. 17 recorridos completos de navegador, sin reintentos.</a:t>
            </a:r>
          </a:p>
          <a:p xmlns:a="http://schemas.openxmlformats.org/drawingml/2006/main">
            <a:r>
              <a:t>backend/pom.xml</a:t>
            </a:r>
          </a:p>
          <a:p xmlns:a="http://schemas.openxmlformats.org/drawingml/2006/main">
            <a:r>
              <a:t>frontend/package.json</a:t>
            </a:r>
          </a:p>
          <a:p xmlns:a="http://schemas.openxmlformats.org/drawingml/2006/main">
            <a:r>
              <a:t>README.md. Estos resultados acreditan pruebas técnicas, no tracción comercial.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internas. Corte documental: 19 de octubre de 2026.</a:t>
            </a:r>
          </a:p>
          <a:p xmlns:a="http://schemas.openxmlformats.org/drawingml/2006/main">
            <a:r>
              <a:t>README.md, modelo de suscripción y límites</a:t>
            </a:r>
          </a:p>
          <a:p xmlns:a="http://schemas.openxmlformats.org/drawingml/2006/main">
            <a:r>
              <a:t>docs/manuales/07-alta-real-de-cuentas-y-farmacias.md, contrato y pago mensual</a:t>
            </a:r>
          </a:p>
          <a:p xmlns:a="http://schemas.openxmlformats.org/drawingml/2006/main">
            <a:r>
              <a:t>backend/src/main/java/ar/emedicapp/catalog/CatalogService.java, saveSubscription. Exige cuota real positiva y moneda para activar.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internas. Corte documental: 19 de octubre de 2026.</a:t>
            </a:r>
          </a:p>
          <a:p xmlns:a="http://schemas.openxmlformats.org/drawingml/2006/main">
            <a:r>
              <a:t>Propuesta de siguiente etapa, sin ejecución ni participantes acreditados.</a:t>
            </a:r>
          </a:p>
          <a:p xmlns:a="http://schemas.openxmlformats.org/drawingml/2006/main">
            <a:r>
              <a:t>README.md, Operación manual con datos propios y límites</a:t>
            </a:r>
          </a:p>
          <a:p xmlns:a="http://schemas.openxmlformats.org/drawingml/2006/main">
            <a:r>
              <a:t>docs/manuales/07-alta-real-de-cuentas-y-farmacias.md. Preparación y compra de prueba.</a:t>
            </a:r>
          </a:p>
          <a:p xmlns:a="http://schemas.openxmlformats.org/drawingml/2006/main">
            <a:r>
              <a:t>Las métricas del piloto son una propuesta de evaluación, no resultados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internas. Corte documental: 19 de octubre de 2026.</a:t>
            </a:r>
          </a:p>
          <a:p xmlns:a="http://schemas.openxmlformats.org/drawingml/2006/main">
            <a:r>
              <a:t>README.md, Operación manual, Respaldo y Límites de esta primera versión</a:t>
            </a:r>
          </a:p>
          <a:p xmlns:a="http://schemas.openxmlformats.org/drawingml/2006/main">
            <a:r>
              <a:t>docs/verificacion-pages-demo-20261019.txt, SMTP pendiente e infraestructura de demo</a:t>
            </a:r>
          </a:p>
          <a:p xmlns:a="http://schemas.openxmlformats.org/drawingml/2006/main">
            <a:r>
              <a:t>docs/manuales/07-alta-real-de-cuentas-y-farmacias.md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b839aa1ed3479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c456d765064e0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852baf71dd47b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b8091234c641f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e257675016494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f306cc94af42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C9BE07-8F1F-4487-AC5A-019CEC6A20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E663460-755A-4173-A336-D9350EB0AE9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AD2E920-395F-4542-89D5-6644BB57D4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E4F918-1E01-4101-9DFD-22230EAD1C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FF07E3C-7E3A-45DC-9B7A-D25F8A8412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9CFCD0C-793D-4697-BB7D-36F478398C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605848-5695-4864-BB63-29C0567191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9F93311-1FF1-4F06-960E-7DB12940DCA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400B84-3087-43A7-9C3E-27902A5C3D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C197CEB-7D4C-42AE-9372-E069ED8A21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85373661e84599" /><Relationship Type="http://schemas.openxmlformats.org/officeDocument/2006/relationships/slideLayout" Target="/ppt/slideLayouts/slideLayout1.xml" Id="R0079ebf7467b4cda" /><Relationship Type="http://schemas.openxmlformats.org/officeDocument/2006/relationships/slideLayout" Target="/ppt/slideLayouts/slideLayout2.xml" Id="R969744a41dd2428f" /><Relationship Type="http://schemas.openxmlformats.org/officeDocument/2006/relationships/slideLayout" Target="/ppt/slideLayouts/slideLayout3.xml" Id="Rf8a01046e1994045" /><Relationship Type="http://schemas.openxmlformats.org/officeDocument/2006/relationships/slideLayout" Target="/ppt/slideLayouts/slideLayout4.xml" Id="R4dfc91b5c435426f" /><Relationship Type="http://schemas.openxmlformats.org/officeDocument/2006/relationships/slideLayout" Target="/ppt/slideLayouts/slideLayout5.xml" Id="Rfdf71b0ba7a64bdb" /><Relationship Type="http://schemas.openxmlformats.org/officeDocument/2006/relationships/slideLayout" Target="/ppt/slideLayouts/slideLayout6.xml" Id="R68f45bfbebb34c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79ebf7467b4cda"/>
    <p:sldLayoutId xmlns:r="http://schemas.openxmlformats.org/officeDocument/2006/relationships" id="2147483650" r:id="R969744a41dd2428f"/>
    <p:sldLayoutId xmlns:r="http://schemas.openxmlformats.org/officeDocument/2006/relationships" id="2147483651" r:id="Rf8a01046e1994045"/>
    <p:sldLayoutId xmlns:r="http://schemas.openxmlformats.org/officeDocument/2006/relationships" id="2147483652" r:id="R4dfc91b5c435426f"/>
    <p:sldLayoutId xmlns:r="http://schemas.openxmlformats.org/officeDocument/2006/relationships" id="2147483653" r:id="Rfdf71b0ba7a64bdb"/>
    <p:sldLayoutId xmlns:r="http://schemas.openxmlformats.org/officeDocument/2006/relationships" id="2147483654" r:id="R68f45bfbebb34c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e1f0c95e6a47e3" /><Relationship Type="http://schemas.openxmlformats.org/officeDocument/2006/relationships/notesSlide" Target="/ppt/notesSlides/notesSlide1.xml" Id="Rd6d26b6565b941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d338fe68554338" /><Relationship Type="http://schemas.openxmlformats.org/officeDocument/2006/relationships/notesSlide" Target="/ppt/notesSlides/notesSlide2.xml" Id="R1b76cfa5f18b48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b64b1cebe94fe8" /><Relationship Type="http://schemas.openxmlformats.org/officeDocument/2006/relationships/image" Target="/ppt/media/image.jpeg" Id="Rcb5bfc26bf2f45dd" /><Relationship Type="http://schemas.openxmlformats.org/officeDocument/2006/relationships/notesSlide" Target="/ppt/notesSlides/notesSlide3.xml" Id="Ra8b2e496cdb840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939e75f18344b4" /><Relationship Type="http://schemas.openxmlformats.org/officeDocument/2006/relationships/notesSlide" Target="/ppt/notesSlides/notesSlide4.xml" Id="Rede8ac8d67044d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6a52de4caf4246" /><Relationship Type="http://schemas.openxmlformats.org/officeDocument/2006/relationships/notesSlide" Target="/ppt/notesSlides/notesSlide5.xml" Id="Ra4bb165a6df64e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c5c1d5374a4e83" /><Relationship Type="http://schemas.openxmlformats.org/officeDocument/2006/relationships/notesSlide" Target="/ppt/notesSlides/notesSlide6.xml" Id="R83eb5a511ac346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774b8efd554358" /><Relationship Type="http://schemas.openxmlformats.org/officeDocument/2006/relationships/notesSlide" Target="/ppt/notesSlides/notesSlide7.xml" Id="R72c7976ae52840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882ceb113544c7" /><Relationship Type="http://schemas.openxmlformats.org/officeDocument/2006/relationships/notesSlide" Target="/ppt/notesSlides/notesSlide8.xml" Id="Rf36e368a3de64d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1fab56c4dc4e5c" /><Relationship Type="http://schemas.openxmlformats.org/officeDocument/2006/relationships/notesSlide" Target="/ppt/notesSlides/notesSlide9.xml" Id="Rbced424b43b543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F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rand">
            <a:extLst xmlns:a="http://schemas.openxmlformats.org/drawingml/2006/main">
              <a:ext uri="{FF2B5EF4-FFF2-40B4-BE49-F238E27FC236}">
                <a16:creationId xmlns:a16="http://schemas.microsoft.com/office/drawing/2014/main" id="{5123A0DD-816F-4D99-862D-B57C2E82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E-MEDICAPP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99CE46A-0057-45A1-8ADD-72004BB0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66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Coordinación de compras</a:t>
            </a:r>
          </a:p>
          <a:p xmlns:a="http://schemas.openxmlformats.org/drawingml/2006/main">
            <a: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 dispensación farmacéutica</a:t>
            </a:r>
          </a:p>
        </p:txBody>
      </p:sp>
      <p:sp>
        <p:nvSpPr>
          <p:cNvPr id="3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942B61CF-A3C4-4389-B676-D1819E26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8E4DD"/>
                </a:solidFill>
                <a:latin typeface="Arial"/>
                <a:ea typeface="Arial"/>
                <a:cs typeface="Arial"/>
              </a:rPr>
              <a:t>MVP de operación manual</a:t>
            </a:r>
          </a:p>
        </p:txBody>
      </p:sp>
      <p:sp>
        <p:nvSpPr>
          <p:cNvPr id="4" name="cover-date">
            <a:extLst xmlns:a="http://schemas.openxmlformats.org/drawingml/2006/main">
              <a:ext uri="{FF2B5EF4-FFF2-40B4-BE49-F238E27FC236}">
                <a16:creationId xmlns:a16="http://schemas.microsoft.com/office/drawing/2014/main" id="{E5803F60-0AA5-4D68-93E4-C8F6FD36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98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E4DD"/>
                </a:solidFill>
                <a:latin typeface="Arial"/>
                <a:ea typeface="Arial"/>
                <a:cs typeface="Arial"/>
              </a:rPr>
              <a:t>Presentación del proyecto · 19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11249316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BC4ACC-288B-46FD-BE00-5B2F28AC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F2B"/>
                </a:solidFill>
                <a:latin typeface="Arial"/>
                <a:ea typeface="Arial"/>
                <a:cs typeface="Arial"/>
              </a:rPr>
              <a:t>La operación que organiza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C4CF3079-2AB8-44C4-89DC-DC120C2E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2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5B050CEE-1E79-465A-BF40-9038AA2A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F2B"/>
                </a:solidFill>
                <a:latin typeface="Arial"/>
                <a:ea typeface="Arial"/>
                <a:cs typeface="Arial"/>
              </a:rPr>
              <a:t>La propuesta reúne el circuito de una compra en un registro compartido por sus responsables.</a:t>
            </a:r>
          </a:p>
        </p:txBody>
      </p:sp>
      <p:sp>
        <p:nvSpPr>
          <p:cNvPr id="4" name="label-273">
            <a:extLst xmlns:a="http://schemas.openxmlformats.org/drawingml/2006/main">
              <a:ext uri="{FF2B5EF4-FFF2-40B4-BE49-F238E27FC236}">
                <a16:creationId xmlns:a16="http://schemas.microsoft.com/office/drawing/2014/main" id="{2FBE7FD3-859A-40EC-935E-1A539619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B5D"/>
                </a:solidFill>
                <a:latin typeface="Arial"/>
                <a:ea typeface="Arial"/>
                <a:cs typeface="Arial"/>
              </a:rPr>
              <a:t>Comprador</a:t>
            </a:r>
          </a:p>
        </p:txBody>
      </p:sp>
      <p:sp>
        <p:nvSpPr>
          <p:cNvPr id="5" name="body-273">
            <a:extLst xmlns:a="http://schemas.openxmlformats.org/drawingml/2006/main">
              <a:ext uri="{FF2B5EF4-FFF2-40B4-BE49-F238E27FC236}">
                <a16:creationId xmlns:a16="http://schemas.microsoft.com/office/drawing/2014/main" id="{0FF7C7E0-A5CF-4670-8041-F08F85B7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00325"/>
            <a:ext cx="7572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F2B"/>
                </a:solidFill>
                <a:latin typeface="Arial"/>
                <a:ea typeface="Arial"/>
                <a:cs typeface="Arial"/>
              </a:rPr>
              <a:t>Solicitar para sí o para un familiar adulto, revisar el presupuesto y conocer el estado.</a:t>
            </a:r>
          </a:p>
        </p:txBody>
      </p:sp>
      <p:sp>
        <p:nvSpPr>
          <p:cNvPr id="6" name="label-383">
            <a:extLst xmlns:a="http://schemas.openxmlformats.org/drawingml/2006/main">
              <a:ext uri="{FF2B5EF4-FFF2-40B4-BE49-F238E27FC236}">
                <a16:creationId xmlns:a16="http://schemas.microsoft.com/office/drawing/2014/main" id="{7584A35B-F21B-49B0-9299-A13B4697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B5D"/>
                </a:solidFill>
                <a:latin typeface="Arial"/>
                <a:ea typeface="Arial"/>
                <a:cs typeface="Arial"/>
              </a:rPr>
              <a:t>Farmacia</a:t>
            </a:r>
          </a:p>
        </p:txBody>
      </p:sp>
      <p:sp>
        <p:nvSpPr>
          <p:cNvPr id="7" name="body-383">
            <a:extLst xmlns:a="http://schemas.openxmlformats.org/drawingml/2006/main">
              <a:ext uri="{FF2B5EF4-FFF2-40B4-BE49-F238E27FC236}">
                <a16:creationId xmlns:a16="http://schemas.microsoft.com/office/drawing/2014/main" id="{DA709123-9311-4706-89D9-3D6EDEDB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648075"/>
            <a:ext cx="7572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F2B"/>
                </a:solidFill>
                <a:latin typeface="Arial"/>
                <a:ea typeface="Arial"/>
                <a:cs typeface="Arial"/>
              </a:rPr>
              <a:t>Comprobar condiciones, cotizar, registrar el cobro y documentar la dispensación.</a:t>
            </a:r>
          </a:p>
        </p:txBody>
      </p:sp>
      <p:sp>
        <p:nvSpPr>
          <p:cNvPr id="8" name="label-493">
            <a:extLst xmlns:a="http://schemas.openxmlformats.org/drawingml/2006/main">
              <a:ext uri="{FF2B5EF4-FFF2-40B4-BE49-F238E27FC236}">
                <a16:creationId xmlns:a16="http://schemas.microsoft.com/office/drawing/2014/main" id="{0B4070CC-ADAA-489F-9EF6-6A3AC5A7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B5D"/>
                </a:solidFill>
                <a:latin typeface="Arial"/>
                <a:ea typeface="Arial"/>
                <a:cs typeface="Arial"/>
              </a:rPr>
              <a:t>Entrega o retiro</a:t>
            </a:r>
          </a:p>
        </p:txBody>
      </p:sp>
      <p:sp>
        <p:nvSpPr>
          <p:cNvPr id="9" name="body-493">
            <a:extLst xmlns:a="http://schemas.openxmlformats.org/drawingml/2006/main">
              <a:ext uri="{FF2B5EF4-FFF2-40B4-BE49-F238E27FC236}">
                <a16:creationId xmlns:a16="http://schemas.microsoft.com/office/drawing/2014/main" id="{58FB2D02-3907-46D4-9824-F874F211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695825"/>
            <a:ext cx="7572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F2B"/>
                </a:solidFill>
                <a:latin typeface="Arial"/>
                <a:ea typeface="Arial"/>
                <a:cs typeface="Arial"/>
              </a:rPr>
              <a:t>Vincular el paquete, la custodia y la recepción con la compra original.</a:t>
            </a:r>
          </a:p>
        </p:txBody>
      </p:sp>
      <p:sp>
        <p:nvSpPr>
          <p:cNvPr id="10" name="hypothesis">
            <a:extLst xmlns:a="http://schemas.openxmlformats.org/drawingml/2006/main">
              <a:ext uri="{FF2B5EF4-FFF2-40B4-BE49-F238E27FC236}">
                <a16:creationId xmlns:a16="http://schemas.microsoft.com/office/drawing/2014/main" id="{3A654DC2-7BD4-417F-84DC-EC2D6E0A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25B"/>
                </a:solidFill>
                <a:latin typeface="Arial"/>
                <a:ea typeface="Arial"/>
                <a:cs typeface="Arial"/>
              </a:rPr>
              <a:t>La necesidad comercial y la disposición de pago requieren validación en un piloto real.</a:t>
            </a:r>
          </a:p>
        </p:txBody>
      </p:sp>
    </p:spTree>
    <p:extLst>
      <p:ext uri="{BB962C8B-B14F-4D97-AF65-F5344CB8AC3E}">
        <p14:creationId xmlns:p14="http://schemas.microsoft.com/office/powerpoint/2010/main" val="9810580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4CC053-2974-4A4B-BE9B-A845CD16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F2B"/>
                </a:solidFill>
                <a:latin typeface="Arial"/>
                <a:ea typeface="Arial"/>
                <a:cs typeface="Arial"/>
              </a:rPr>
              <a:t>Producto disponible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05264996-A644-4F1C-BA05-7A2CCD19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25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product-lead">
            <a:extLst xmlns:a="http://schemas.openxmlformats.org/drawingml/2006/main">
              <a:ext uri="{FF2B5EF4-FFF2-40B4-BE49-F238E27FC236}">
                <a16:creationId xmlns:a16="http://schemas.microsoft.com/office/drawing/2014/main" id="{F9424630-7B9C-45B3-ACB1-F35414B5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6905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6B5D"/>
                </a:solidFill>
                <a:latin typeface="Arial"/>
                <a:ea typeface="Arial"/>
                <a:cs typeface="Arial"/>
              </a:rPr>
              <a:t>Una aplicación web con tareas según el perfil</a:t>
            </a:r>
          </a:p>
        </p:txBody>
      </p:sp>
      <p:sp>
        <p:nvSpPr>
          <p:cNvPr id="4" name="product-copy">
            <a:extLst xmlns:a="http://schemas.openxmlformats.org/drawingml/2006/main">
              <a:ext uri="{FF2B5EF4-FFF2-40B4-BE49-F238E27FC236}">
                <a16:creationId xmlns:a16="http://schemas.microsoft.com/office/drawing/2014/main" id="{ACD044DF-30C7-41F1-BC3B-1CB9450F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676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2B"/>
                </a:solidFill>
                <a:latin typeface="Arial"/>
                <a:ea typeface="Arial"/>
                <a:cs typeface="Arial"/>
              </a:rPr>
              <a:t>El comprador crea solicitudes y acepta condiciones.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2B"/>
                </a:solidFill>
                <a:latin typeface="Arial"/>
                <a:ea typeface="Arial"/>
                <a:cs typeface="Arial"/>
              </a:rPr>
              <a:t>La farmacia revisa y procesa pedidos.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2B"/>
                </a:solidFill>
                <a:latin typeface="Arial"/>
                <a:ea typeface="Arial"/>
                <a:cs typeface="Arial"/>
              </a:rPr>
              <a:t>El cadete registra la custodia y la entrega.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2B"/>
                </a:solidFill>
                <a:latin typeface="Arial"/>
                <a:ea typeface="Arial"/>
                <a:cs typeface="Arial"/>
              </a:rPr>
              <a:t>La administración gestiona sucursales, catálogo y accesos.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0A668-8EDA-46C3-AA55-ACCB8C814D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bfc26bf2f45dd"/>
          <a:stretch xmlns:a="http://schemas.openxmlformats.org/drawingml/2006/main"/>
        </p:blipFill>
        <p:spPr>
          <a:xfrm xmlns:a="http://schemas.openxmlformats.org/drawingml/2006/main">
            <a:off x="8383377" y="1457325"/>
            <a:ext cx="2130847" cy="4914900"/>
          </a:xfrm>
          <a:prstGeom xmlns:a="http://schemas.openxmlformats.org/drawingml/2006/main" prst="rect">
            <a:avLst/>
          </a:prstGeom>
        </p:spPr>
      </p:pic>
      <p:sp>
        <p:nvSpPr>
          <p:cNvPr id="6" name="demo-caption">
            <a:extLst xmlns:a="http://schemas.openxmlformats.org/drawingml/2006/main">
              <a:ext uri="{FF2B5EF4-FFF2-40B4-BE49-F238E27FC236}">
                <a16:creationId xmlns:a16="http://schemas.microsoft.com/office/drawing/2014/main" id="{29F19211-D85D-4528-A9AA-BF30CFAA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14300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B5D"/>
                </a:solidFill>
                <a:latin typeface="Arial"/>
                <a:ea typeface="Arial"/>
                <a:cs typeface="Arial"/>
              </a:rPr>
              <a:t>Entorno DEMO</a:t>
            </a:r>
          </a:p>
        </p:txBody>
      </p:sp>
    </p:spTree>
    <p:extLst>
      <p:ext uri="{BB962C8B-B14F-4D97-AF65-F5344CB8AC3E}">
        <p14:creationId xmlns:p14="http://schemas.microsoft.com/office/powerpoint/2010/main" val="19419643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77988B-C6BC-4B5E-AFE9-F6D0879A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F2B"/>
                </a:solidFill>
                <a:latin typeface="Arial"/>
                <a:ea typeface="Arial"/>
                <a:cs typeface="Arial"/>
              </a:rPr>
              <a:t>Circuito de una compra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4859142E-7F6D-4A9B-9A82-7CE329B5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25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step-01">
            <a:extLst xmlns:a="http://schemas.openxmlformats.org/drawingml/2006/main">
              <a:ext uri="{FF2B5EF4-FFF2-40B4-BE49-F238E27FC236}">
                <a16:creationId xmlns:a16="http://schemas.microsoft.com/office/drawing/2014/main" id="{B90D8EC0-25E5-4CE5-A77C-1D7359FD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1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6B5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step-title-01">
            <a:extLst xmlns:a="http://schemas.openxmlformats.org/drawingml/2006/main">
              <a:ext uri="{FF2B5EF4-FFF2-40B4-BE49-F238E27FC236}">
                <a16:creationId xmlns:a16="http://schemas.microsoft.com/office/drawing/2014/main" id="{E2741E9E-3F9A-4622-B0D0-692AFCA0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71450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F2B"/>
                </a:solidFill>
                <a:latin typeface="Arial"/>
                <a:ea typeface="Arial"/>
                <a:cs typeface="Arial"/>
              </a:rPr>
              <a:t>Solicitud</a:t>
            </a:r>
          </a:p>
        </p:txBody>
      </p:sp>
      <p:sp>
        <p:nvSpPr>
          <p:cNvPr id="5" name="step-copy-01">
            <a:extLst xmlns:a="http://schemas.openxmlformats.org/drawingml/2006/main">
              <a:ext uri="{FF2B5EF4-FFF2-40B4-BE49-F238E27FC236}">
                <a16:creationId xmlns:a16="http://schemas.microsoft.com/office/drawing/2014/main" id="{48D748FC-D17D-4E2E-B9B3-2FF88FF7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209800"/>
            <a:ext cx="4381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F2B"/>
                </a:solidFill>
                <a:latin typeface="Arial"/>
                <a:ea typeface="Arial"/>
                <a:cs typeface="Arial"/>
              </a:rPr>
              <a:t>Beneficiario adulto, productos, entrega o retiro y documentación.</a:t>
            </a:r>
          </a:p>
        </p:txBody>
      </p:sp>
      <p:sp>
        <p:nvSpPr>
          <p:cNvPr id="6" name="step-02">
            <a:extLst xmlns:a="http://schemas.openxmlformats.org/drawingml/2006/main">
              <a:ext uri="{FF2B5EF4-FFF2-40B4-BE49-F238E27FC236}">
                <a16:creationId xmlns:a16="http://schemas.microsoft.com/office/drawing/2014/main" id="{7B48C9CB-B51E-4D88-87D8-5AF13B71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71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6B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step-title-02">
            <a:extLst xmlns:a="http://schemas.openxmlformats.org/drawingml/2006/main">
              <a:ext uri="{FF2B5EF4-FFF2-40B4-BE49-F238E27FC236}">
                <a16:creationId xmlns:a16="http://schemas.microsoft.com/office/drawing/2014/main" id="{5CC1A3FD-4722-4E25-BB69-6AE7EDA1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171825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F2B"/>
                </a:solidFill>
                <a:latin typeface="Arial"/>
                <a:ea typeface="Arial"/>
                <a:cs typeface="Arial"/>
              </a:rPr>
              <a:t>Revisión y presupuesto</a:t>
            </a:r>
          </a:p>
        </p:txBody>
      </p:sp>
      <p:sp>
        <p:nvSpPr>
          <p:cNvPr id="8" name="step-copy-02">
            <a:extLst xmlns:a="http://schemas.openxmlformats.org/drawingml/2006/main">
              <a:ext uri="{FF2B5EF4-FFF2-40B4-BE49-F238E27FC236}">
                <a16:creationId xmlns:a16="http://schemas.microsoft.com/office/drawing/2014/main" id="{2AD0D429-57A6-48F2-9929-7ED20B73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667125"/>
            <a:ext cx="4381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F2B"/>
                </a:solidFill>
                <a:latin typeface="Arial"/>
                <a:ea typeface="Arial"/>
                <a:cs typeface="Arial"/>
              </a:rPr>
              <a:t>Farmacia, receta y cobertura. Reserva de stock, lote y saldo de receta.</a:t>
            </a:r>
          </a:p>
        </p:txBody>
      </p:sp>
      <p:sp>
        <p:nvSpPr>
          <p:cNvPr id="9" name="step-03">
            <a:extLst xmlns:a="http://schemas.openxmlformats.org/drawingml/2006/main">
              <a:ext uri="{FF2B5EF4-FFF2-40B4-BE49-F238E27FC236}">
                <a16:creationId xmlns:a16="http://schemas.microsoft.com/office/drawing/2014/main" id="{92166A7E-E933-4842-B937-798DB7FC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71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6B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step-title-03">
            <a:extLst xmlns:a="http://schemas.openxmlformats.org/drawingml/2006/main">
              <a:ext uri="{FF2B5EF4-FFF2-40B4-BE49-F238E27FC236}">
                <a16:creationId xmlns:a16="http://schemas.microsoft.com/office/drawing/2014/main" id="{742E1E0B-9E39-4A06-AEA8-5EAB3A42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62915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F2B"/>
                </a:solidFill>
                <a:latin typeface="Arial"/>
                <a:ea typeface="Arial"/>
                <a:cs typeface="Arial"/>
              </a:rPr>
              <a:t>Aceptación</a:t>
            </a:r>
          </a:p>
        </p:txBody>
      </p:sp>
      <p:sp>
        <p:nvSpPr>
          <p:cNvPr id="11" name="step-copy-03">
            <a:extLst xmlns:a="http://schemas.openxmlformats.org/drawingml/2006/main">
              <a:ext uri="{FF2B5EF4-FFF2-40B4-BE49-F238E27FC236}">
                <a16:creationId xmlns:a16="http://schemas.microsoft.com/office/drawing/2014/main" id="{01A95A1D-2CC2-44B0-BF39-11BB7636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5124450"/>
            <a:ext cx="4381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F2B"/>
                </a:solidFill>
                <a:latin typeface="Arial"/>
                <a:ea typeface="Arial"/>
                <a:cs typeface="Arial"/>
              </a:rPr>
              <a:t>El comprador confirma la propuesta completa y sus condiciones.</a:t>
            </a:r>
          </a:p>
        </p:txBody>
      </p:sp>
      <p:sp>
        <p:nvSpPr>
          <p:cNvPr id="12" name="step-04">
            <a:extLst xmlns:a="http://schemas.openxmlformats.org/drawingml/2006/main">
              <a:ext uri="{FF2B5EF4-FFF2-40B4-BE49-F238E27FC236}">
                <a16:creationId xmlns:a16="http://schemas.microsoft.com/office/drawing/2014/main" id="{043C73B0-A1F0-464B-86BD-A3D54860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71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6B5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title-04">
            <a:extLst xmlns:a="http://schemas.openxmlformats.org/drawingml/2006/main">
              <a:ext uri="{FF2B5EF4-FFF2-40B4-BE49-F238E27FC236}">
                <a16:creationId xmlns:a16="http://schemas.microsoft.com/office/drawing/2014/main" id="{F84057FC-06A6-4BBC-98FC-00858EEF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F2B"/>
                </a:solidFill>
                <a:latin typeface="Arial"/>
                <a:ea typeface="Arial"/>
                <a:cs typeface="Arial"/>
              </a:rPr>
              <a:t>Cobro y factura</a:t>
            </a:r>
          </a:p>
        </p:txBody>
      </p:sp>
      <p:sp>
        <p:nvSpPr>
          <p:cNvPr id="14" name="step-copy-04">
            <a:extLst xmlns:a="http://schemas.openxmlformats.org/drawingml/2006/main">
              <a:ext uri="{FF2B5EF4-FFF2-40B4-BE49-F238E27FC236}">
                <a16:creationId xmlns:a16="http://schemas.microsoft.com/office/drawing/2014/main" id="{73994E3D-2A62-4F4F-9FFE-31A0BF48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09800"/>
            <a:ext cx="4381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F2B"/>
                </a:solidFill>
                <a:latin typeface="Arial"/>
                <a:ea typeface="Arial"/>
                <a:cs typeface="Arial"/>
              </a:rPr>
              <a:t>La farmacia comprueba los fondos y adjunta su factura externa.</a:t>
            </a:r>
          </a:p>
        </p:txBody>
      </p:sp>
      <p:sp>
        <p:nvSpPr>
          <p:cNvPr id="15" name="step-05">
            <a:extLst xmlns:a="http://schemas.openxmlformats.org/drawingml/2006/main">
              <a:ext uri="{FF2B5EF4-FFF2-40B4-BE49-F238E27FC236}">
                <a16:creationId xmlns:a16="http://schemas.microsoft.com/office/drawing/2014/main" id="{2893C443-E3FD-408E-916A-8E194E1B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71825"/>
            <a:ext cx="71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6B5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step-title-05">
            <a:extLst xmlns:a="http://schemas.openxmlformats.org/drawingml/2006/main">
              <a:ext uri="{FF2B5EF4-FFF2-40B4-BE49-F238E27FC236}">
                <a16:creationId xmlns:a16="http://schemas.microsoft.com/office/drawing/2014/main" id="{F9E3C7AE-CDE7-49CD-959A-0A82F5DC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71825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F2B"/>
                </a:solidFill>
                <a:latin typeface="Arial"/>
                <a:ea typeface="Arial"/>
                <a:cs typeface="Arial"/>
              </a:rPr>
              <a:t>Preparación y dispensación</a:t>
            </a:r>
          </a:p>
        </p:txBody>
      </p:sp>
      <p:sp>
        <p:nvSpPr>
          <p:cNvPr id="17" name="step-copy-05">
            <a:extLst xmlns:a="http://schemas.openxmlformats.org/drawingml/2006/main">
              <a:ext uri="{FF2B5EF4-FFF2-40B4-BE49-F238E27FC236}">
                <a16:creationId xmlns:a16="http://schemas.microsoft.com/office/drawing/2014/main" id="{8FDE7800-EDA5-4C74-B321-A9ED2C7B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67125"/>
            <a:ext cx="4381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F2B"/>
                </a:solidFill>
                <a:latin typeface="Arial"/>
                <a:ea typeface="Arial"/>
                <a:cs typeface="Arial"/>
              </a:rPr>
              <a:t>El equipo registra controles y la actuación profesional.</a:t>
            </a:r>
          </a:p>
        </p:txBody>
      </p:sp>
      <p:sp>
        <p:nvSpPr>
          <p:cNvPr id="18" name="step-06">
            <a:extLst xmlns:a="http://schemas.openxmlformats.org/drawingml/2006/main">
              <a:ext uri="{FF2B5EF4-FFF2-40B4-BE49-F238E27FC236}">
                <a16:creationId xmlns:a16="http://schemas.microsoft.com/office/drawing/2014/main" id="{5DD331E8-05F7-46EB-8B7C-ADC7E1F7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29150"/>
            <a:ext cx="71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6B5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9" name="step-title-06">
            <a:extLst xmlns:a="http://schemas.openxmlformats.org/drawingml/2006/main">
              <a:ext uri="{FF2B5EF4-FFF2-40B4-BE49-F238E27FC236}">
                <a16:creationId xmlns:a16="http://schemas.microsoft.com/office/drawing/2014/main" id="{393195EB-7849-48DA-B01D-81779098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2915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F2B"/>
                </a:solidFill>
                <a:latin typeface="Arial"/>
                <a:ea typeface="Arial"/>
                <a:cs typeface="Arial"/>
              </a:rPr>
              <a:t>Recepción</a:t>
            </a:r>
          </a:p>
        </p:txBody>
      </p:sp>
      <p:sp>
        <p:nvSpPr>
          <p:cNvPr id="20" name="step-copy-06">
            <a:extLst xmlns:a="http://schemas.openxmlformats.org/drawingml/2006/main">
              <a:ext uri="{FF2B5EF4-FFF2-40B4-BE49-F238E27FC236}">
                <a16:creationId xmlns:a16="http://schemas.microsoft.com/office/drawing/2014/main" id="{D5D4F2CA-6B45-427C-B883-0E41CF01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24450"/>
            <a:ext cx="4381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F2B"/>
                </a:solidFill>
                <a:latin typeface="Arial"/>
                <a:ea typeface="Arial"/>
                <a:cs typeface="Arial"/>
              </a:rPr>
              <a:t>Retiro o entrega con custodia, identidad observada y código temporal.</a:t>
            </a:r>
          </a:p>
        </p:txBody>
      </p:sp>
    </p:spTree>
    <p:extLst>
      <p:ext uri="{BB962C8B-B14F-4D97-AF65-F5344CB8AC3E}">
        <p14:creationId xmlns:p14="http://schemas.microsoft.com/office/powerpoint/2010/main" val="20673816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B1B9BC-AF8D-4DAE-9F42-504DB11D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F2B"/>
                </a:solidFill>
                <a:latin typeface="Arial"/>
                <a:ea typeface="Arial"/>
                <a:cs typeface="Arial"/>
              </a:rPr>
              <a:t>Controles implementados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0467AB23-B297-4B9A-A5E2-BB9C93F7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25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label-184">
            <a:extLst xmlns:a="http://schemas.openxmlformats.org/drawingml/2006/main">
              <a:ext uri="{FF2B5EF4-FFF2-40B4-BE49-F238E27FC236}">
                <a16:creationId xmlns:a16="http://schemas.microsoft.com/office/drawing/2014/main" id="{2A97F4AC-94B1-4BFB-B6DB-EC956CBC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B5D"/>
                </a:solidFill>
                <a:latin typeface="Arial"/>
                <a:ea typeface="Arial"/>
                <a:cs typeface="Arial"/>
              </a:rPr>
              <a:t>Reservas</a:t>
            </a:r>
          </a:p>
        </p:txBody>
      </p:sp>
      <p:sp>
        <p:nvSpPr>
          <p:cNvPr id="4" name="body-184">
            <a:extLst xmlns:a="http://schemas.openxmlformats.org/drawingml/2006/main">
              <a:ext uri="{FF2B5EF4-FFF2-40B4-BE49-F238E27FC236}">
                <a16:creationId xmlns:a16="http://schemas.microsoft.com/office/drawing/2014/main" id="{5314886C-AC41-4689-AC4D-CE1301D7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752600"/>
            <a:ext cx="7572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F2B"/>
                </a:solidFill>
                <a:latin typeface="Arial"/>
                <a:ea typeface="Arial"/>
                <a:cs typeface="Arial"/>
              </a:rPr>
              <a:t>Transacciones de stock, lote y receta. El vencimiento libera reservas.</a:t>
            </a:r>
          </a:p>
        </p:txBody>
      </p:sp>
      <p:sp>
        <p:nvSpPr>
          <p:cNvPr id="5" name="label-296">
            <a:extLst xmlns:a="http://schemas.openxmlformats.org/drawingml/2006/main">
              <a:ext uri="{FF2B5EF4-FFF2-40B4-BE49-F238E27FC236}">
                <a16:creationId xmlns:a16="http://schemas.microsoft.com/office/drawing/2014/main" id="{7233DB3F-8FDA-4FEC-8E76-A99B9CE7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B5D"/>
                </a:solidFill>
                <a:latin typeface="Arial"/>
                <a:ea typeface="Arial"/>
                <a:cs typeface="Arial"/>
              </a:rPr>
              <a:t>Consentimiento</a:t>
            </a:r>
          </a:p>
        </p:txBody>
      </p:sp>
      <p:sp>
        <p:nvSpPr>
          <p:cNvPr id="6" name="body-296">
            <a:extLst xmlns:a="http://schemas.openxmlformats.org/drawingml/2006/main">
              <a:ext uri="{FF2B5EF4-FFF2-40B4-BE49-F238E27FC236}">
                <a16:creationId xmlns:a16="http://schemas.microsoft.com/office/drawing/2014/main" id="{E6F0E234-35A2-4F6B-BADB-2593350A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19400"/>
            <a:ext cx="7572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F2B"/>
                </a:solidFill>
                <a:latin typeface="Arial"/>
                <a:ea typeface="Arial"/>
                <a:cs typeface="Arial"/>
              </a:rPr>
              <a:t>El comprador acepta cambios de productos y un nuevo presupuesto ante cambios materiales.</a:t>
            </a:r>
          </a:p>
        </p:txBody>
      </p:sp>
      <p:sp>
        <p:nvSpPr>
          <p:cNvPr id="7" name="label-408">
            <a:extLst xmlns:a="http://schemas.openxmlformats.org/drawingml/2006/main">
              <a:ext uri="{FF2B5EF4-FFF2-40B4-BE49-F238E27FC236}">
                <a16:creationId xmlns:a16="http://schemas.microsoft.com/office/drawing/2014/main" id="{4B48328B-73B6-44D3-8EE5-E8377F0D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B5D"/>
                </a:solidFill>
                <a:latin typeface="Arial"/>
                <a:ea typeface="Arial"/>
                <a:cs typeface="Arial"/>
              </a:rPr>
              <a:t>Responsabilidad</a:t>
            </a:r>
          </a:p>
        </p:txBody>
      </p:sp>
      <p:sp>
        <p:nvSpPr>
          <p:cNvPr id="8" name="body-408">
            <a:extLst xmlns:a="http://schemas.openxmlformats.org/drawingml/2006/main">
              <a:ext uri="{FF2B5EF4-FFF2-40B4-BE49-F238E27FC236}">
                <a16:creationId xmlns:a16="http://schemas.microsoft.com/office/drawing/2014/main" id="{713D35A7-7427-4F51-BF54-969A01AE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886200"/>
            <a:ext cx="7572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F2B"/>
                </a:solidFill>
                <a:latin typeface="Arial"/>
                <a:ea typeface="Arial"/>
                <a:cs typeface="Arial"/>
              </a:rPr>
              <a:t>Permisos por rol y sucursal, versiones y evidencia. Alto valor con dos profesionales distintos.</a:t>
            </a:r>
          </a:p>
        </p:txBody>
      </p:sp>
      <p:sp>
        <p:nvSpPr>
          <p:cNvPr id="9" name="label-520">
            <a:extLst xmlns:a="http://schemas.openxmlformats.org/drawingml/2006/main">
              <a:ext uri="{FF2B5EF4-FFF2-40B4-BE49-F238E27FC236}">
                <a16:creationId xmlns:a16="http://schemas.microsoft.com/office/drawing/2014/main" id="{A437D7DE-59B8-4EF2-AE24-C59A0B5C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B5D"/>
                </a:solidFill>
                <a:latin typeface="Arial"/>
                <a:ea typeface="Arial"/>
                <a:cs typeface="Arial"/>
              </a:rPr>
              <a:t>Incidencias</a:t>
            </a:r>
          </a:p>
        </p:txBody>
      </p:sp>
      <p:sp>
        <p:nvSpPr>
          <p:cNvPr id="10" name="body-520">
            <a:extLst xmlns:a="http://schemas.openxmlformats.org/drawingml/2006/main">
              <a:ext uri="{FF2B5EF4-FFF2-40B4-BE49-F238E27FC236}">
                <a16:creationId xmlns:a16="http://schemas.microsoft.com/office/drawing/2014/main" id="{3E773208-D312-432D-8DA0-DF5271C4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53000"/>
            <a:ext cx="7572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F2B"/>
                </a:solidFill>
                <a:latin typeface="Arial"/>
                <a:ea typeface="Arial"/>
                <a:cs typeface="Arial"/>
              </a:rPr>
              <a:t>Cancelación, conciliación, reintegro y reposición vinculados a la operación original.</a:t>
            </a:r>
          </a:p>
        </p:txBody>
      </p:sp>
      <p:sp>
        <p:nvSpPr>
          <p:cNvPr id="11" name="manual-control">
            <a:extLst xmlns:a="http://schemas.openxmlformats.org/drawingml/2006/main">
              <a:ext uri="{FF2B5EF4-FFF2-40B4-BE49-F238E27FC236}">
                <a16:creationId xmlns:a16="http://schemas.microsoft.com/office/drawing/2014/main" id="{12164733-AABD-49D0-BD8D-B6961487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8625B"/>
                </a:solidFill>
                <a:latin typeface="Arial"/>
                <a:ea typeface="Arial"/>
                <a:cs typeface="Arial"/>
              </a:rPr>
              <a:t>Las comprobaciones clínicas, comerciales y físicas corresponden a los responsables de la operación.</a:t>
            </a:r>
          </a:p>
        </p:txBody>
      </p:sp>
    </p:spTree>
    <p:extLst>
      <p:ext uri="{BB962C8B-B14F-4D97-AF65-F5344CB8AC3E}">
        <p14:creationId xmlns:p14="http://schemas.microsoft.com/office/powerpoint/2010/main" val="4397263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750293-818B-4ABD-8262-4C95FCAE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F2B"/>
                </a:solidFill>
                <a:latin typeface="Arial"/>
                <a:ea typeface="Arial"/>
                <a:cs typeface="Arial"/>
              </a:rPr>
              <a:t>Implementación y evidencia técnica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3B42129F-C3AD-46B4-903E-ACB83469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25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metric-0">
            <a:extLst xmlns:a="http://schemas.openxmlformats.org/drawingml/2006/main">
              <a:ext uri="{FF2B5EF4-FFF2-40B4-BE49-F238E27FC236}">
                <a16:creationId xmlns:a16="http://schemas.microsoft.com/office/drawing/2014/main" id="{ED7A8486-C9C5-41ED-915A-C26E10D7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33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6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defPPr>
            <a:lvl1pPr>
              <a:defRPr sz="66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1pPr>
            <a:lvl2pPr>
              <a:defRPr sz="66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2pPr>
            <a:lvl3pPr>
              <a:defRPr sz="66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3pPr>
            <a:lvl4pPr>
              <a:defRPr sz="66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4pPr>
            <a:lvl5pPr>
              <a:defRPr sz="66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5pPr>
            <a:lvl6pPr>
              <a:defRPr sz="66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6pPr>
            <a:lvl7pPr>
              <a:defRPr sz="66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7pPr>
            <a:lvl8pPr>
              <a:defRPr sz="66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8pPr>
            <a:lvl9pPr>
              <a:defRPr sz="66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6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pPr>
            <a:r>
              <a:rPr sz="6675" b="1">
                <a:solidFill>
                  <a:srgbClr val="176B5D"/>
                </a:solidFill>
                <a:latin typeface="Arial"/>
                <a:ea typeface="Arial"/>
                <a:cs typeface="Arial"/>
              </a:rPr>
              <a:t>184</a:t>
            </a:r>
          </a:p>
        </p:txBody>
      </p:sp>
      <p:sp>
        <p:nvSpPr>
          <p:cNvPr id="4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22AD79DA-0CD4-4386-9ED0-3A9A6C3D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B"/>
                </a:solidFill>
                <a:latin typeface="Arial"/>
                <a:ea typeface="Arial"/>
                <a:cs typeface="Arial"/>
              </a:rPr>
              <a:t>pruebas de servidor</a:t>
            </a:r>
          </a:p>
        </p:txBody>
      </p:sp>
      <p:sp>
        <p:nvSpPr>
          <p:cNvPr id="5" name="metric-1">
            <a:extLst xmlns:a="http://schemas.openxmlformats.org/drawingml/2006/main">
              <a:ext uri="{FF2B5EF4-FFF2-40B4-BE49-F238E27FC236}">
                <a16:creationId xmlns:a16="http://schemas.microsoft.com/office/drawing/2014/main" id="{143F0A19-7DC1-4233-AA15-A9151167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714500"/>
            <a:ext cx="333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6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defPPr>
            <a:lvl1pPr>
              <a:defRPr sz="66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1pPr>
            <a:lvl2pPr>
              <a:defRPr sz="66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2pPr>
            <a:lvl3pPr>
              <a:defRPr sz="66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3pPr>
            <a:lvl4pPr>
              <a:defRPr sz="66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4pPr>
            <a:lvl5pPr>
              <a:defRPr sz="66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5pPr>
            <a:lvl6pPr>
              <a:defRPr sz="66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6pPr>
            <a:lvl7pPr>
              <a:defRPr sz="66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7pPr>
            <a:lvl8pPr>
              <a:defRPr sz="66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8pPr>
            <a:lvl9pPr>
              <a:defRPr sz="66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6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pPr>
            <a:r>
              <a:rPr sz="6675" b="1">
                <a:solidFill>
                  <a:srgbClr val="176B5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5650D065-A36D-44CB-A85D-2231EC4D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1465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B"/>
                </a:solidFill>
                <a:latin typeface="Arial"/>
                <a:ea typeface="Arial"/>
                <a:cs typeface="Arial"/>
              </a:rPr>
              <a:t>pruebas de interfaz</a:t>
            </a:r>
          </a:p>
        </p:txBody>
      </p:sp>
      <p:sp>
        <p:nvSpPr>
          <p:cNvPr id="7" name="metric-2">
            <a:extLst xmlns:a="http://schemas.openxmlformats.org/drawingml/2006/main">
              <a:ext uri="{FF2B5EF4-FFF2-40B4-BE49-F238E27FC236}">
                <a16:creationId xmlns:a16="http://schemas.microsoft.com/office/drawing/2014/main" id="{2354C46B-23B2-4963-96A3-FE3850AB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333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6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defPPr>
            <a:lvl1pPr>
              <a:defRPr sz="66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1pPr>
            <a:lvl2pPr>
              <a:defRPr sz="66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2pPr>
            <a:lvl3pPr>
              <a:defRPr sz="66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3pPr>
            <a:lvl4pPr>
              <a:defRPr sz="66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4pPr>
            <a:lvl5pPr>
              <a:defRPr sz="66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5pPr>
            <a:lvl6pPr>
              <a:defRPr sz="66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6pPr>
            <a:lvl7pPr>
              <a:defRPr sz="66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7pPr>
            <a:lvl8pPr>
              <a:defRPr sz="66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8pPr>
            <a:lvl9pPr>
              <a:defRPr sz="66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6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pPr>
            <a:r>
              <a:rPr sz="6675" b="1">
                <a:solidFill>
                  <a:srgbClr val="176B5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8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842F7F2A-4E92-451F-B486-386D9B6C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1465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B"/>
                </a:solidFill>
                <a:latin typeface="Arial"/>
                <a:ea typeface="Arial"/>
                <a:cs typeface="Arial"/>
              </a:rPr>
              <a:t>recorridos de navegador</a:t>
            </a:r>
          </a:p>
        </p:txBody>
      </p:sp>
      <p:sp>
        <p:nvSpPr>
          <p:cNvPr id="9" name="qa-status">
            <a:extLst xmlns:a="http://schemas.openxmlformats.org/drawingml/2006/main">
              <a:ext uri="{FF2B5EF4-FFF2-40B4-BE49-F238E27FC236}">
                <a16:creationId xmlns:a16="http://schemas.microsoft.com/office/drawing/2014/main" id="{D40DBAC0-848E-4443-A28A-F3FCF570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F2B"/>
                </a:solidFill>
                <a:latin typeface="Arial"/>
                <a:ea typeface="Arial"/>
                <a:cs typeface="Arial"/>
              </a:rPr>
              <a:t>Verificación documentada del 19/10/2026: aprobadas, sin fallos de servidor ni reintentos de navegador.</a:t>
            </a:r>
          </a:p>
        </p:txBody>
      </p:sp>
      <p:sp>
        <p:nvSpPr>
          <p:cNvPr id="10" name="architecture">
            <a:extLst xmlns:a="http://schemas.openxmlformats.org/drawingml/2006/main">
              <a:ext uri="{FF2B5EF4-FFF2-40B4-BE49-F238E27FC236}">
                <a16:creationId xmlns:a16="http://schemas.microsoft.com/office/drawing/2014/main" id="{D1B162B1-2C00-44F6-A945-43170275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B"/>
                </a:solidFill>
                <a:latin typeface="Arial"/>
                <a:ea typeface="Arial"/>
                <a:cs typeface="Arial"/>
              </a:rPr>
              <a:t>React y TypeScript en la web. Java y Spring Boot en el backend. PostgreSQL con migraciones.</a:t>
            </a:r>
          </a:p>
        </p:txBody>
      </p:sp>
      <p:sp>
        <p:nvSpPr>
          <p:cNvPr id="11" name="deployment">
            <a:extLst xmlns:a="http://schemas.openxmlformats.org/drawingml/2006/main">
              <a:ext uri="{FF2B5EF4-FFF2-40B4-BE49-F238E27FC236}">
                <a16:creationId xmlns:a16="http://schemas.microsoft.com/office/drawing/2014/main" id="{51ABC03D-6789-454B-B873-4F28124C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8625B"/>
                </a:solidFill>
                <a:latin typeface="Arial"/>
                <a:ea typeface="Arial"/>
                <a:cs typeface="Arial"/>
              </a:rPr>
              <a:t>La demo compartida usa GitHub Pages y un túnel HTTPS hacia el backend de esta PC.</a:t>
            </a:r>
          </a:p>
        </p:txBody>
      </p:sp>
    </p:spTree>
    <p:extLst>
      <p:ext uri="{BB962C8B-B14F-4D97-AF65-F5344CB8AC3E}">
        <p14:creationId xmlns:p14="http://schemas.microsoft.com/office/powerpoint/2010/main" val="7061367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52F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B87971-8865-473A-AB99-860B7CE5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Modelo de ingresos definido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84B197C1-ED14-4397-AAC1-B02C3D0F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E4D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model">
            <a:extLst xmlns:a="http://schemas.openxmlformats.org/drawingml/2006/main">
              <a:ext uri="{FF2B5EF4-FFF2-40B4-BE49-F238E27FC236}">
                <a16:creationId xmlns:a16="http://schemas.microsoft.com/office/drawing/2014/main" id="{4AAAE7B3-5218-4B07-8CA9-991C7437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Suscripción mensual fija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la farmacia o red</a:t>
            </a:r>
          </a:p>
        </p:txBody>
      </p:sp>
      <p:sp>
        <p:nvSpPr>
          <p:cNvPr id="4" name="payer">
            <a:extLst xmlns:a="http://schemas.openxmlformats.org/drawingml/2006/main">
              <a:ext uri="{FF2B5EF4-FFF2-40B4-BE49-F238E27FC236}">
                <a16:creationId xmlns:a16="http://schemas.microsoft.com/office/drawing/2014/main" id="{23E12A5B-476B-455B-918C-A65D9CB6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8E4DD"/>
                </a:solidFill>
                <a:latin typeface="Arial"/>
                <a:ea typeface="Arial"/>
                <a:cs typeface="Arial"/>
              </a:rPr>
              <a:t>La farmacia cobra y factura los medicamentos directamente. También absorbe el costo del envío.</a:t>
            </a:r>
          </a:p>
        </p:txBody>
      </p:sp>
      <p:sp>
        <p:nvSpPr>
          <p:cNvPr id="5" name="buyer">
            <a:extLst xmlns:a="http://schemas.openxmlformats.org/drawingml/2006/main">
              <a:ext uri="{FF2B5EF4-FFF2-40B4-BE49-F238E27FC236}">
                <a16:creationId xmlns:a16="http://schemas.microsoft.com/office/drawing/2014/main" id="{E1DCA079-8166-4E81-8197-7CE42136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comprador no paga comisión de plataforma ni envío.</a:t>
            </a:r>
          </a:p>
        </p:txBody>
      </p:sp>
      <p:sp>
        <p:nvSpPr>
          <p:cNvPr id="6" name="pricing">
            <a:extLst xmlns:a="http://schemas.openxmlformats.org/drawingml/2006/main">
              <a:ext uri="{FF2B5EF4-FFF2-40B4-BE49-F238E27FC236}">
                <a16:creationId xmlns:a16="http://schemas.microsoft.com/office/drawing/2014/main" id="{D1E5A153-ECC1-48D6-9915-D0B284E3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8E4DD"/>
                </a:solidFill>
                <a:latin typeface="Arial"/>
                <a:ea typeface="Arial"/>
                <a:cs typeface="Arial"/>
              </a:rPr>
              <a:t>El precio contractual real y la moneda se acuerdan por contrato. Las U.M. de los planes son simbólicas.</a:t>
            </a:r>
          </a:p>
        </p:txBody>
      </p:sp>
    </p:spTree>
    <p:extLst>
      <p:ext uri="{BB962C8B-B14F-4D97-AF65-F5344CB8AC3E}">
        <p14:creationId xmlns:p14="http://schemas.microsoft.com/office/powerpoint/2010/main" val="18592094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B436D9-CC58-4845-966A-F9068406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F2B"/>
                </a:solidFill>
                <a:latin typeface="Arial"/>
                <a:ea typeface="Arial"/>
                <a:cs typeface="Arial"/>
              </a:rPr>
              <a:t>Piloto propuesto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5D137107-6EC9-4042-AA17-E84A84DA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25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future">
            <a:extLst xmlns:a="http://schemas.openxmlformats.org/drawingml/2006/main">
              <a:ext uri="{FF2B5EF4-FFF2-40B4-BE49-F238E27FC236}">
                <a16:creationId xmlns:a16="http://schemas.microsoft.com/office/drawing/2014/main" id="{241EFCE2-49F3-4725-95E6-89C8869C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6B5D"/>
                </a:solidFill>
                <a:latin typeface="Arial"/>
                <a:ea typeface="Arial"/>
                <a:cs typeface="Arial"/>
              </a:rPr>
              <a:t>Próxima etapa: validar la operación con una farmacia participante.</a:t>
            </a:r>
          </a:p>
        </p:txBody>
      </p:sp>
      <p:sp>
        <p:nvSpPr>
          <p:cNvPr id="4" name="label-278">
            <a:extLst xmlns:a="http://schemas.openxmlformats.org/drawingml/2006/main">
              <a:ext uri="{FF2B5EF4-FFF2-40B4-BE49-F238E27FC236}">
                <a16:creationId xmlns:a16="http://schemas.microsoft.com/office/drawing/2014/main" id="{7337AAF3-6C10-4564-A0ED-66444189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B5D"/>
                </a:solidFill>
                <a:latin typeface="Arial"/>
                <a:ea typeface="Arial"/>
                <a:cs typeface="Arial"/>
              </a:rPr>
              <a:t>Preparación</a:t>
            </a:r>
          </a:p>
        </p:txBody>
      </p:sp>
      <p:sp>
        <p:nvSpPr>
          <p:cNvPr id="5" name="body-278">
            <a:extLst xmlns:a="http://schemas.openxmlformats.org/drawingml/2006/main">
              <a:ext uri="{FF2B5EF4-FFF2-40B4-BE49-F238E27FC236}">
                <a16:creationId xmlns:a16="http://schemas.microsoft.com/office/drawing/2014/main" id="{39C71FDD-E198-48FE-A390-A4F4893F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47950"/>
            <a:ext cx="7572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F2B"/>
                </a:solidFill>
                <a:latin typeface="Arial"/>
                <a:ea typeface="Arial"/>
                <a:cs typeface="Arial"/>
              </a:rPr>
              <a:t>Acordar alcance, responsables, contrato y procedimientos. Configurar correo y datos reales verificados.</a:t>
            </a:r>
          </a:p>
        </p:txBody>
      </p:sp>
      <p:sp>
        <p:nvSpPr>
          <p:cNvPr id="6" name="label-400">
            <a:extLst xmlns:a="http://schemas.openxmlformats.org/drawingml/2006/main">
              <a:ext uri="{FF2B5EF4-FFF2-40B4-BE49-F238E27FC236}">
                <a16:creationId xmlns:a16="http://schemas.microsoft.com/office/drawing/2014/main" id="{02E14BC1-5A0A-45A3-A3B5-EDDAF3C4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B5D"/>
                </a:solidFill>
                <a:latin typeface="Arial"/>
                <a:ea typeface="Arial"/>
                <a:cs typeface="Arial"/>
              </a:rPr>
              <a:t>Ejecución</a:t>
            </a:r>
          </a:p>
        </p:txBody>
      </p:sp>
      <p:sp>
        <p:nvSpPr>
          <p:cNvPr id="7" name="body-400">
            <a:extLst xmlns:a="http://schemas.openxmlformats.org/drawingml/2006/main">
              <a:ext uri="{FF2B5EF4-FFF2-40B4-BE49-F238E27FC236}">
                <a16:creationId xmlns:a16="http://schemas.microsoft.com/office/drawing/2014/main" id="{5A1ACF12-C20A-4B23-A9E0-D012F781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810000"/>
            <a:ext cx="7572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F2B"/>
                </a:solidFill>
                <a:latin typeface="Arial"/>
                <a:ea typeface="Arial"/>
                <a:cs typeface="Arial"/>
              </a:rPr>
              <a:t>Realizar compras controladas de extremo a extremo y documentar desvíos del circuito.</a:t>
            </a:r>
          </a:p>
        </p:txBody>
      </p:sp>
      <p:sp>
        <p:nvSpPr>
          <p:cNvPr id="8" name="label-522">
            <a:extLst xmlns:a="http://schemas.openxmlformats.org/drawingml/2006/main">
              <a:ext uri="{FF2B5EF4-FFF2-40B4-BE49-F238E27FC236}">
                <a16:creationId xmlns:a16="http://schemas.microsoft.com/office/drawing/2014/main" id="{4341CCD6-0A41-4068-81F6-7A23E7E2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B5D"/>
                </a:solidFill>
                <a:latin typeface="Arial"/>
                <a:ea typeface="Arial"/>
                <a:cs typeface="Arial"/>
              </a:rPr>
              <a:t>Evaluación</a:t>
            </a:r>
          </a:p>
        </p:txBody>
      </p:sp>
      <p:sp>
        <p:nvSpPr>
          <p:cNvPr id="9" name="body-522">
            <a:extLst xmlns:a="http://schemas.openxmlformats.org/drawingml/2006/main">
              <a:ext uri="{FF2B5EF4-FFF2-40B4-BE49-F238E27FC236}">
                <a16:creationId xmlns:a16="http://schemas.microsoft.com/office/drawing/2014/main" id="{06E6E46E-BD12-4675-9D8A-F180F3EC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72050"/>
            <a:ext cx="7572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F2B"/>
                </a:solidFill>
                <a:latin typeface="Arial"/>
                <a:ea typeface="Arial"/>
                <a:cs typeface="Arial"/>
              </a:rPr>
              <a:t>Medir tiempos por etapa, finalización de pedidos, incidencias y costo de atención y entrega.</a:t>
            </a:r>
          </a:p>
        </p:txBody>
      </p:sp>
      <p:sp>
        <p:nvSpPr>
          <p:cNvPr id="10" name="pilot-evidence">
            <a:extLst xmlns:a="http://schemas.openxmlformats.org/drawingml/2006/main">
              <a:ext uri="{FF2B5EF4-FFF2-40B4-BE49-F238E27FC236}">
                <a16:creationId xmlns:a16="http://schemas.microsoft.com/office/drawing/2014/main" id="{6F7F4D45-C0D8-4BDC-82DD-B695B383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8625B"/>
                </a:solidFill>
                <a:latin typeface="Arial"/>
                <a:ea typeface="Arial"/>
                <a:cs typeface="Arial"/>
              </a:rPr>
              <a:t>La documentación revisada no acredita convenios, clientes activos, ventas ni cobros comerciales.</a:t>
            </a:r>
          </a:p>
        </p:txBody>
      </p:sp>
    </p:spTree>
    <p:extLst>
      <p:ext uri="{BB962C8B-B14F-4D97-AF65-F5344CB8AC3E}">
        <p14:creationId xmlns:p14="http://schemas.microsoft.com/office/powerpoint/2010/main" val="8364280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3973B9-BF8C-4708-899B-47E7E082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F2B"/>
                </a:solidFill>
                <a:latin typeface="Arial"/>
                <a:ea typeface="Arial"/>
                <a:cs typeface="Arial"/>
              </a:rPr>
              <a:t>Alcance actual y evolución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2BFAD104-8EC0-438F-BCBE-3CB78685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25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present-label">
            <a:extLst xmlns:a="http://schemas.openxmlformats.org/drawingml/2006/main">
              <a:ext uri="{FF2B5EF4-FFF2-40B4-BE49-F238E27FC236}">
                <a16:creationId xmlns:a16="http://schemas.microsoft.com/office/drawing/2014/main" id="{DE5E1CFC-F215-4D1A-B171-81ED1AB6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B5D"/>
                </a:solidFill>
                <a:latin typeface="Arial"/>
                <a:ea typeface="Arial"/>
                <a:cs typeface="Arial"/>
              </a:rPr>
              <a:t>Disponible hoy</a:t>
            </a:r>
          </a:p>
        </p:txBody>
      </p:sp>
      <p:sp>
        <p:nvSpPr>
          <p:cNvPr id="4" name="present">
            <a:extLst xmlns:a="http://schemas.openxmlformats.org/drawingml/2006/main">
              <a:ext uri="{FF2B5EF4-FFF2-40B4-BE49-F238E27FC236}">
                <a16:creationId xmlns:a16="http://schemas.microsoft.com/office/drawing/2014/main" id="{DDA3A8F6-3F89-4538-B7E1-B56E8163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2B"/>
                </a:solidFill>
                <a:latin typeface="Arial"/>
                <a:ea typeface="Arial"/>
                <a:cs typeface="Arial"/>
              </a:rPr>
              <a:t>MVP funcional y verificaciones técnicas documentadas.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2B"/>
                </a:solidFill>
                <a:latin typeface="Arial"/>
                <a:ea typeface="Arial"/>
                <a:cs typeface="Arial"/>
              </a:rPr>
              <a:t>Demo sintética separada de la operación manual.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2B"/>
                </a:solidFill>
                <a:latin typeface="Arial"/>
                <a:ea typeface="Arial"/>
                <a:cs typeface="Arial"/>
              </a:rPr>
              <a:t>Manuales por rol y configuración administrativa.</a:t>
            </a:r>
          </a:p>
        </p:txBody>
      </p:sp>
      <p:sp>
        <p:nvSpPr>
          <p:cNvPr id="5" name="next-label">
            <a:extLst xmlns:a="http://schemas.openxmlformats.org/drawingml/2006/main">
              <a:ext uri="{FF2B5EF4-FFF2-40B4-BE49-F238E27FC236}">
                <a16:creationId xmlns:a16="http://schemas.microsoft.com/office/drawing/2014/main" id="{E45B6BD3-F67A-4032-B6E2-D1252333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38300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76B5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B5D"/>
                </a:solidFill>
                <a:latin typeface="Arial"/>
                <a:ea typeface="Arial"/>
                <a:cs typeface="Arial"/>
              </a:rPr>
              <a:t>Preparación para operación real</a:t>
            </a:r>
          </a:p>
        </p:txBody>
      </p:sp>
      <p:sp>
        <p:nvSpPr>
          <p:cNvPr id="6" name="next">
            <a:extLst xmlns:a="http://schemas.openxmlformats.org/drawingml/2006/main">
              <a:ext uri="{FF2B5EF4-FFF2-40B4-BE49-F238E27FC236}">
                <a16:creationId xmlns:a16="http://schemas.microsoft.com/office/drawing/2014/main" id="{BFD1B7AF-83B3-4379-863F-B87F42BD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14625"/>
            <a:ext cx="500062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B"/>
                </a:solidFill>
                <a:latin typeface="Arial"/>
                <a:ea typeface="Arial"/>
                <a:cs typeface="Arial"/>
              </a:rPr>
              <a:t>Correo transaccional configurado.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B"/>
                </a:solidFill>
                <a:latin typeface="Arial"/>
                <a:ea typeface="Arial"/>
                <a:cs typeface="Arial"/>
              </a:rPr>
              <a:t>Infraestructura persistente y procedimientos de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B"/>
                </a:solidFill>
                <a:latin typeface="Arial"/>
                <a:ea typeface="Arial"/>
                <a:cs typeface="Arial"/>
              </a:rPr>
              <a:t>Farmacias, equipos y condiciones acreditados.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52F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B"/>
                </a:solidFill>
                <a:latin typeface="Arial"/>
                <a:ea typeface="Arial"/>
                <a:cs typeface="Arial"/>
              </a:rPr>
              <a:t>Integraciones externas como evolución posterior.</a:t>
            </a:r>
          </a:p>
        </p:txBody>
      </p:sp>
      <p:sp>
        <p:nvSpPr>
          <p:cNvPr id="7" name="limits">
            <a:extLst xmlns:a="http://schemas.openxmlformats.org/drawingml/2006/main">
              <a:ext uri="{FF2B5EF4-FFF2-40B4-BE49-F238E27FC236}">
                <a16:creationId xmlns:a16="http://schemas.microsoft.com/office/drawing/2014/main" id="{935244AC-340B-469F-A24A-B659D08E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8625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25B"/>
                </a:solidFill>
                <a:latin typeface="Arial"/>
                <a:ea typeface="Arial"/>
                <a:cs typeface="Arial"/>
              </a:rPr>
              <a:t>Stock, receta, cobertura, pagos y facturas conservan comprobación manual. El MVP no dispone de conectores reales a esos sistemas.</a:t>
            </a:r>
          </a:p>
        </p:txBody>
      </p:sp>
    </p:spTree>
    <p:extLst>
      <p:ext uri="{BB962C8B-B14F-4D97-AF65-F5344CB8AC3E}">
        <p14:creationId xmlns:p14="http://schemas.microsoft.com/office/powerpoint/2010/main" val="6304993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2026-10-19T19:12:53.8690000Z</dcterms:created>
  <dcterms:modified xsi:type="dcterms:W3CDTF">2026-10-19T19:12:53.8690000Z</dcterms:modified>
</coreProperties>
</file>